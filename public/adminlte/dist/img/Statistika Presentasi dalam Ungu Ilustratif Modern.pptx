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8288000" cy="10287000"/>
  <p:notesSz cx="6858000" cy="9144000"/>
  <p:embeddedFontLst>
    <p:embeddedFont>
      <p:font typeface="Bobby Jones" charset="1" panose="00000000000000000000"/>
      <p:regular r:id="rId10"/>
    </p:embeddedFont>
    <p:embeddedFont>
      <p:font typeface="Nunito Bold" charset="1" panose="00000000000000000000"/>
      <p:regular r:id="rId11"/>
    </p:embeddedFont>
    <p:embeddedFont>
      <p:font typeface="Roboto" charset="1" panose="02000000000000000000"/>
      <p:regular r:id="rId12"/>
    </p:embeddedFont>
    <p:embeddedFont>
      <p:font typeface="Roboto Bold" charset="1" panose="02000000000000000000"/>
      <p:regular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fonts/font10.fntdata" Type="http://schemas.openxmlformats.org/officeDocument/2006/relationships/font"/><Relationship Id="rId11" Target="fonts/font11.fntdata" Type="http://schemas.openxmlformats.org/officeDocument/2006/relationships/font"/><Relationship Id="rId12" Target="fonts/font12.fntdata" Type="http://schemas.openxmlformats.org/officeDocument/2006/relationships/font"/><Relationship Id="rId13" Target="fonts/font13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png" Type="http://schemas.openxmlformats.org/officeDocument/2006/relationships/image"/><Relationship Id="rId11" Target="../media/image12.png" Type="http://schemas.openxmlformats.org/officeDocument/2006/relationships/image"/><Relationship Id="rId12" Target="../media/image13.png" Type="http://schemas.openxmlformats.org/officeDocument/2006/relationships/image"/><Relationship Id="rId13" Target="../media/image14.png" Type="http://schemas.openxmlformats.org/officeDocument/2006/relationships/image"/><Relationship Id="rId14" Target="../media/image15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6.png" Type="http://schemas.openxmlformats.org/officeDocument/2006/relationships/image"/><Relationship Id="rId11" Target="../media/image17.png" Type="http://schemas.openxmlformats.org/officeDocument/2006/relationships/image"/><Relationship Id="rId12" Target="../media/image18.png" Type="http://schemas.openxmlformats.org/officeDocument/2006/relationships/image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1.png" Type="http://schemas.openxmlformats.org/officeDocument/2006/relationships/image"/><Relationship Id="rId7" Target="../media/image2.svg" Type="http://schemas.openxmlformats.org/officeDocument/2006/relationships/image"/><Relationship Id="rId8" Target="../media/image5.png" Type="http://schemas.openxmlformats.org/officeDocument/2006/relationships/image"/><Relationship Id="rId9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9.png" Type="http://schemas.openxmlformats.org/officeDocument/2006/relationships/image"/><Relationship Id="rId13" Target="../media/image20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0448193" y="8429079"/>
            <a:ext cx="5175013" cy="2673373"/>
          </a:xfrm>
          <a:custGeom>
            <a:avLst/>
            <a:gdLst/>
            <a:ahLst/>
            <a:cxnLst/>
            <a:rect r="r" b="b" t="t" l="l"/>
            <a:pathLst>
              <a:path h="2673373" w="5175013">
                <a:moveTo>
                  <a:pt x="0" y="0"/>
                </a:moveTo>
                <a:lnTo>
                  <a:pt x="5175013" y="0"/>
                </a:lnTo>
                <a:lnTo>
                  <a:pt x="5175013" y="2673373"/>
                </a:lnTo>
                <a:lnTo>
                  <a:pt x="0" y="2673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-41356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83131">
            <a:off x="2160311" y="-1093527"/>
            <a:ext cx="13975270" cy="9757279"/>
          </a:xfrm>
          <a:custGeom>
            <a:avLst/>
            <a:gdLst/>
            <a:ahLst/>
            <a:cxnLst/>
            <a:rect r="r" b="b" t="t" l="l"/>
            <a:pathLst>
              <a:path h="9757279" w="13975270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-997666" y="7695135"/>
            <a:ext cx="3281454" cy="3126330"/>
          </a:xfrm>
          <a:custGeom>
            <a:avLst/>
            <a:gdLst/>
            <a:ahLst/>
            <a:cxnLst/>
            <a:rect r="r" b="b" t="t" l="l"/>
            <a:pathLst>
              <a:path h="3126330" w="3281454">
                <a:moveTo>
                  <a:pt x="0" y="0"/>
                </a:moveTo>
                <a:lnTo>
                  <a:pt x="3281454" y="0"/>
                </a:lnTo>
                <a:lnTo>
                  <a:pt x="3281454" y="3126330"/>
                </a:lnTo>
                <a:lnTo>
                  <a:pt x="0" y="3126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90831" y="9765765"/>
            <a:ext cx="19058739" cy="702472"/>
            <a:chOff x="0" y="0"/>
            <a:chExt cx="5019585" cy="185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9585" cy="185013"/>
            </a:xfrm>
            <a:custGeom>
              <a:avLst/>
              <a:gdLst/>
              <a:ahLst/>
              <a:cxnLst/>
              <a:rect r="r" b="b" t="t" l="l"/>
              <a:pathLst>
                <a:path h="185013" w="5019585">
                  <a:moveTo>
                    <a:pt x="0" y="0"/>
                  </a:moveTo>
                  <a:lnTo>
                    <a:pt x="5019585" y="0"/>
                  </a:lnTo>
                  <a:lnTo>
                    <a:pt x="5019585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9585" cy="22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80775" y="1485050"/>
            <a:ext cx="10056586" cy="3901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4871"/>
              </a:lnSpc>
            </a:pPr>
            <a:r>
              <a:rPr lang="en-US" sz="14871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Pengenalan basis data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1788909" y="7326566"/>
            <a:ext cx="7490894" cy="1792118"/>
            <a:chOff x="0" y="0"/>
            <a:chExt cx="1882587" cy="450389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82587" cy="450389"/>
            </a:xfrm>
            <a:custGeom>
              <a:avLst/>
              <a:gdLst/>
              <a:ahLst/>
              <a:cxnLst/>
              <a:rect r="r" b="b" t="t" l="l"/>
              <a:pathLst>
                <a:path h="450389" w="1882587">
                  <a:moveTo>
                    <a:pt x="24804" y="0"/>
                  </a:moveTo>
                  <a:lnTo>
                    <a:pt x="1857783" y="0"/>
                  </a:lnTo>
                  <a:cubicBezTo>
                    <a:pt x="1871482" y="0"/>
                    <a:pt x="1882587" y="11105"/>
                    <a:pt x="1882587" y="24804"/>
                  </a:cubicBezTo>
                  <a:lnTo>
                    <a:pt x="1882587" y="425585"/>
                  </a:lnTo>
                  <a:cubicBezTo>
                    <a:pt x="1882587" y="439284"/>
                    <a:pt x="1871482" y="450389"/>
                    <a:pt x="1857783" y="450389"/>
                  </a:cubicBezTo>
                  <a:lnTo>
                    <a:pt x="24804" y="450389"/>
                  </a:lnTo>
                  <a:cubicBezTo>
                    <a:pt x="11105" y="450389"/>
                    <a:pt x="0" y="439284"/>
                    <a:pt x="0" y="425585"/>
                  </a:cubicBezTo>
                  <a:lnTo>
                    <a:pt x="0" y="24804"/>
                  </a:lnTo>
                  <a:cubicBezTo>
                    <a:pt x="0" y="11105"/>
                    <a:pt x="11105" y="0"/>
                    <a:pt x="24804" y="0"/>
                  </a:cubicBezTo>
                  <a:close/>
                </a:path>
              </a:pathLst>
            </a:custGeom>
            <a:solidFill>
              <a:srgbClr val="F3CA5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882587" cy="488489"/>
            </a:xfrm>
            <a:prstGeom prst="rect">
              <a:avLst/>
            </a:prstGeom>
          </p:spPr>
          <p:txBody>
            <a:bodyPr anchor="ctr" rtlCol="false" tIns="44426" lIns="44426" bIns="44426" rIns="444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808503" y="4896303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170080">
            <a:off x="10814644" y="756722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-5933437" y="-805666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3"/>
                </a:lnTo>
                <a:lnTo>
                  <a:pt x="0" y="2673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381763" y="7494382"/>
            <a:ext cx="8203704" cy="14535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871"/>
              </a:lnSpc>
            </a:pPr>
            <a:r>
              <a:rPr lang="en-US" sz="4194" b="true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Nama : Suci Angelika Sinaga</a:t>
            </a:r>
          </a:p>
          <a:p>
            <a:pPr algn="ctr">
              <a:lnSpc>
                <a:spcPts val="5871"/>
              </a:lnSpc>
              <a:spcBef>
                <a:spcPct val="0"/>
              </a:spcBef>
            </a:pPr>
            <a:r>
              <a:rPr lang="en-US" b="true" sz="4194">
                <a:solidFill>
                  <a:srgbClr val="000000"/>
                </a:solidFill>
                <a:latin typeface="Nunito Bold"/>
                <a:ea typeface="Nunito Bold"/>
                <a:cs typeface="Nunito Bold"/>
                <a:sym typeface="Nunito Bold"/>
              </a:rPr>
              <a:t>NIM : 42325035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304847" y="2988807"/>
            <a:ext cx="8996231" cy="7298193"/>
          </a:xfrm>
          <a:custGeom>
            <a:avLst/>
            <a:gdLst/>
            <a:ahLst/>
            <a:cxnLst/>
            <a:rect r="r" b="b" t="t" l="l"/>
            <a:pathLst>
              <a:path h="7298193" w="8996231">
                <a:moveTo>
                  <a:pt x="0" y="0"/>
                </a:moveTo>
                <a:lnTo>
                  <a:pt x="8996232" y="0"/>
                </a:lnTo>
                <a:lnTo>
                  <a:pt x="8996232" y="7298193"/>
                </a:lnTo>
                <a:lnTo>
                  <a:pt x="0" y="729819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6647273" y="-1563165"/>
            <a:ext cx="3281454" cy="3126330"/>
          </a:xfrm>
          <a:custGeom>
            <a:avLst/>
            <a:gdLst/>
            <a:ahLst/>
            <a:cxnLst/>
            <a:rect r="r" b="b" t="t" l="l"/>
            <a:pathLst>
              <a:path h="3126330" w="3281454">
                <a:moveTo>
                  <a:pt x="0" y="0"/>
                </a:moveTo>
                <a:lnTo>
                  <a:pt x="3281454" y="0"/>
                </a:lnTo>
                <a:lnTo>
                  <a:pt x="3281454" y="3126330"/>
                </a:lnTo>
                <a:lnTo>
                  <a:pt x="0" y="31263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831" y="9765765"/>
            <a:ext cx="19058739" cy="702472"/>
            <a:chOff x="0" y="0"/>
            <a:chExt cx="5019585" cy="185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9585" cy="185013"/>
            </a:xfrm>
            <a:custGeom>
              <a:avLst/>
              <a:gdLst/>
              <a:ahLst/>
              <a:cxnLst/>
              <a:rect r="r" b="b" t="t" l="l"/>
              <a:pathLst>
                <a:path h="185013" w="5019585">
                  <a:moveTo>
                    <a:pt x="0" y="0"/>
                  </a:moveTo>
                  <a:lnTo>
                    <a:pt x="5019585" y="0"/>
                  </a:lnTo>
                  <a:lnTo>
                    <a:pt x="5019585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19585" cy="22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83131">
            <a:off x="2160311" y="-1093527"/>
            <a:ext cx="13975270" cy="9757279"/>
          </a:xfrm>
          <a:custGeom>
            <a:avLst/>
            <a:gdLst/>
            <a:ahLst/>
            <a:cxnLst/>
            <a:rect r="r" b="b" t="t" l="l"/>
            <a:pathLst>
              <a:path h="9757279" w="13975270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268369" y="67160"/>
            <a:ext cx="7629900" cy="936409"/>
            <a:chOff x="0" y="0"/>
            <a:chExt cx="1917522" cy="2353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7522" cy="235335"/>
            </a:xfrm>
            <a:custGeom>
              <a:avLst/>
              <a:gdLst/>
              <a:ahLst/>
              <a:cxnLst/>
              <a:rect r="r" b="b" t="t" l="l"/>
              <a:pathLst>
                <a:path h="235335" w="1917522">
                  <a:moveTo>
                    <a:pt x="24352" y="0"/>
                  </a:moveTo>
                  <a:lnTo>
                    <a:pt x="1893169" y="0"/>
                  </a:lnTo>
                  <a:cubicBezTo>
                    <a:pt x="1899628" y="0"/>
                    <a:pt x="1905822" y="2566"/>
                    <a:pt x="1910389" y="7133"/>
                  </a:cubicBezTo>
                  <a:cubicBezTo>
                    <a:pt x="1914956" y="11700"/>
                    <a:pt x="1917522" y="17894"/>
                    <a:pt x="1917522" y="24352"/>
                  </a:cubicBezTo>
                  <a:lnTo>
                    <a:pt x="1917522" y="210983"/>
                  </a:lnTo>
                  <a:cubicBezTo>
                    <a:pt x="1917522" y="217442"/>
                    <a:pt x="1914956" y="223636"/>
                    <a:pt x="1910389" y="228203"/>
                  </a:cubicBezTo>
                  <a:cubicBezTo>
                    <a:pt x="1905822" y="232770"/>
                    <a:pt x="1899628" y="235335"/>
                    <a:pt x="1893169" y="235335"/>
                  </a:cubicBezTo>
                  <a:lnTo>
                    <a:pt x="24352" y="235335"/>
                  </a:lnTo>
                  <a:cubicBezTo>
                    <a:pt x="17894" y="235335"/>
                    <a:pt x="11700" y="232770"/>
                    <a:pt x="7133" y="228203"/>
                  </a:cubicBezTo>
                  <a:cubicBezTo>
                    <a:pt x="2566" y="223636"/>
                    <a:pt x="0" y="217442"/>
                    <a:pt x="0" y="210983"/>
                  </a:cubicBezTo>
                  <a:lnTo>
                    <a:pt x="0" y="24352"/>
                  </a:lnTo>
                  <a:cubicBezTo>
                    <a:pt x="0" y="17894"/>
                    <a:pt x="2566" y="11700"/>
                    <a:pt x="7133" y="7133"/>
                  </a:cubicBezTo>
                  <a:cubicBezTo>
                    <a:pt x="11700" y="2566"/>
                    <a:pt x="17894" y="0"/>
                    <a:pt x="24352" y="0"/>
                  </a:cubicBezTo>
                  <a:close/>
                </a:path>
              </a:pathLst>
            </a:custGeom>
            <a:solidFill>
              <a:srgbClr val="F3CA5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917522" cy="273435"/>
            </a:xfrm>
            <a:prstGeom prst="rect">
              <a:avLst/>
            </a:prstGeom>
          </p:spPr>
          <p:txBody>
            <a:bodyPr anchor="ctr" rtlCol="false" tIns="44426" lIns="44426" bIns="44426" rIns="444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198235" y="268665"/>
            <a:ext cx="7770169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DATA MANIPULATION LANGUAGE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287963" y="261288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5275306" y="-1336687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4"/>
                </a:lnTo>
                <a:lnTo>
                  <a:pt x="0" y="2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6829903" y="8770540"/>
            <a:ext cx="1591704" cy="1516460"/>
          </a:xfrm>
          <a:custGeom>
            <a:avLst/>
            <a:gdLst/>
            <a:ahLst/>
            <a:cxnLst/>
            <a:rect r="r" b="b" t="t" l="l"/>
            <a:pathLst>
              <a:path h="1516460" w="1591704">
                <a:moveTo>
                  <a:pt x="0" y="0"/>
                </a:moveTo>
                <a:lnTo>
                  <a:pt x="1591704" y="0"/>
                </a:lnTo>
                <a:lnTo>
                  <a:pt x="1591704" y="1516460"/>
                </a:lnTo>
                <a:lnTo>
                  <a:pt x="0" y="1516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224134" y="1601937"/>
            <a:ext cx="3674136" cy="3807740"/>
          </a:xfrm>
          <a:custGeom>
            <a:avLst/>
            <a:gdLst/>
            <a:ahLst/>
            <a:cxnLst/>
            <a:rect r="r" b="b" t="t" l="l"/>
            <a:pathLst>
              <a:path h="3807740" w="3674136">
                <a:moveTo>
                  <a:pt x="0" y="0"/>
                </a:moveTo>
                <a:lnTo>
                  <a:pt x="3674135" y="0"/>
                </a:lnTo>
                <a:lnTo>
                  <a:pt x="3674135" y="3807740"/>
                </a:lnTo>
                <a:lnTo>
                  <a:pt x="0" y="3807740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5224134" y="5830590"/>
            <a:ext cx="3564729" cy="1896858"/>
          </a:xfrm>
          <a:custGeom>
            <a:avLst/>
            <a:gdLst/>
            <a:ahLst/>
            <a:cxnLst/>
            <a:rect r="r" b="b" t="t" l="l"/>
            <a:pathLst>
              <a:path h="1896858" w="3564729">
                <a:moveTo>
                  <a:pt x="0" y="0"/>
                </a:moveTo>
                <a:lnTo>
                  <a:pt x="3564728" y="0"/>
                </a:lnTo>
                <a:lnTo>
                  <a:pt x="3564728" y="1896858"/>
                </a:lnTo>
                <a:lnTo>
                  <a:pt x="0" y="1896858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-33013" b="-123325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5224134" y="7841590"/>
            <a:ext cx="2884413" cy="1857901"/>
          </a:xfrm>
          <a:custGeom>
            <a:avLst/>
            <a:gdLst/>
            <a:ahLst/>
            <a:cxnLst/>
            <a:rect r="r" b="b" t="t" l="l"/>
            <a:pathLst>
              <a:path h="1857901" w="2884413">
                <a:moveTo>
                  <a:pt x="0" y="0"/>
                </a:moveTo>
                <a:lnTo>
                  <a:pt x="2884412" y="0"/>
                </a:lnTo>
                <a:lnTo>
                  <a:pt x="2884412" y="1857901"/>
                </a:lnTo>
                <a:lnTo>
                  <a:pt x="0" y="1857901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533731" y="2751474"/>
            <a:ext cx="3409537" cy="2067277"/>
          </a:xfrm>
          <a:custGeom>
            <a:avLst/>
            <a:gdLst/>
            <a:ahLst/>
            <a:cxnLst/>
            <a:rect r="r" b="b" t="t" l="l"/>
            <a:pathLst>
              <a:path h="2067277" w="3409537">
                <a:moveTo>
                  <a:pt x="0" y="0"/>
                </a:moveTo>
                <a:lnTo>
                  <a:pt x="3409536" y="0"/>
                </a:lnTo>
                <a:lnTo>
                  <a:pt x="3409536" y="2067276"/>
                </a:lnTo>
                <a:lnTo>
                  <a:pt x="0" y="2067276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0533731" y="1628095"/>
            <a:ext cx="2989437" cy="877335"/>
          </a:xfrm>
          <a:custGeom>
            <a:avLst/>
            <a:gdLst/>
            <a:ahLst/>
            <a:cxnLst/>
            <a:rect r="r" b="b" t="t" l="l"/>
            <a:pathLst>
              <a:path h="877335" w="2989437">
                <a:moveTo>
                  <a:pt x="0" y="0"/>
                </a:moveTo>
                <a:lnTo>
                  <a:pt x="2989437" y="0"/>
                </a:lnTo>
                <a:lnTo>
                  <a:pt x="2989437" y="877335"/>
                </a:lnTo>
                <a:lnTo>
                  <a:pt x="0" y="877335"/>
                </a:lnTo>
                <a:lnTo>
                  <a:pt x="0" y="0"/>
                </a:lnTo>
                <a:close/>
              </a:path>
            </a:pathLst>
          </a:custGeom>
          <a:blipFill>
            <a:blip r:embed="rId14"/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341744" y="1232169"/>
            <a:ext cx="4741575" cy="156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DML adalah bahasa yang memungkinkan pengguna untuk mengakses atau memanipulasi data sebagaimana diatur oleh model data yang sesuai.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744" y="2975944"/>
            <a:ext cx="4741575" cy="1257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DML merupakan bagian dari bahasa SQL yang digunakan untuk mengolah atau memanipulasi data dalam</a:t>
            </a: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 database, termasuk :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41744" y="4407811"/>
            <a:ext cx="4741575" cy="252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INSERT : Menambahkan baris data baru ke dalam tabel.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UPDATE: Mengubah data yang sudah ada dalam tabel.</a:t>
            </a:r>
          </a:p>
          <a:p>
            <a:pPr algn="l">
              <a:lnSpc>
                <a:spcPts val="2500"/>
              </a:lnSpc>
            </a:pPr>
          </a:p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DELETE: Menghapus baris data dari tabel.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5224134" y="1306662"/>
            <a:ext cx="4741575" cy="295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0"/>
              </a:lnSpc>
            </a:pPr>
            <a:r>
              <a:rPr lang="en-US" sz="18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CONTOH DUMMY DATA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224134" y="5509157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INSERT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0533731" y="1306662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UPDATE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490831" y="9765765"/>
            <a:ext cx="19058739" cy="702472"/>
            <a:chOff x="0" y="0"/>
            <a:chExt cx="5019585" cy="18501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019585" cy="185013"/>
            </a:xfrm>
            <a:custGeom>
              <a:avLst/>
              <a:gdLst/>
              <a:ahLst/>
              <a:cxnLst/>
              <a:rect r="r" b="b" t="t" l="l"/>
              <a:pathLst>
                <a:path h="185013" w="5019585">
                  <a:moveTo>
                    <a:pt x="0" y="0"/>
                  </a:moveTo>
                  <a:lnTo>
                    <a:pt x="5019585" y="0"/>
                  </a:lnTo>
                  <a:lnTo>
                    <a:pt x="5019585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5019585" cy="22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283131">
            <a:off x="2160311" y="-1093527"/>
            <a:ext cx="13975270" cy="9757279"/>
          </a:xfrm>
          <a:custGeom>
            <a:avLst/>
            <a:gdLst/>
            <a:ahLst/>
            <a:cxnLst/>
            <a:rect r="r" b="b" t="t" l="l"/>
            <a:pathLst>
              <a:path h="9757279" w="13975270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3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6" id="6"/>
          <p:cNvGrpSpPr/>
          <p:nvPr/>
        </p:nvGrpSpPr>
        <p:grpSpPr>
          <a:xfrm rot="0">
            <a:off x="1268369" y="67160"/>
            <a:ext cx="5738129" cy="936409"/>
            <a:chOff x="0" y="0"/>
            <a:chExt cx="1442088" cy="2353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442088" cy="235335"/>
            </a:xfrm>
            <a:custGeom>
              <a:avLst/>
              <a:gdLst/>
              <a:ahLst/>
              <a:cxnLst/>
              <a:rect r="r" b="b" t="t" l="l"/>
              <a:pathLst>
                <a:path h="235335" w="1442088">
                  <a:moveTo>
                    <a:pt x="32381" y="0"/>
                  </a:moveTo>
                  <a:lnTo>
                    <a:pt x="1409707" y="0"/>
                  </a:lnTo>
                  <a:cubicBezTo>
                    <a:pt x="1427590" y="0"/>
                    <a:pt x="1442088" y="14497"/>
                    <a:pt x="1442088" y="32381"/>
                  </a:cubicBezTo>
                  <a:lnTo>
                    <a:pt x="1442088" y="202954"/>
                  </a:lnTo>
                  <a:cubicBezTo>
                    <a:pt x="1442088" y="211542"/>
                    <a:pt x="1438676" y="219778"/>
                    <a:pt x="1432604" y="225851"/>
                  </a:cubicBezTo>
                  <a:cubicBezTo>
                    <a:pt x="1426531" y="231924"/>
                    <a:pt x="1418295" y="235335"/>
                    <a:pt x="1409707" y="235335"/>
                  </a:cubicBezTo>
                  <a:lnTo>
                    <a:pt x="32381" y="235335"/>
                  </a:lnTo>
                  <a:cubicBezTo>
                    <a:pt x="23793" y="235335"/>
                    <a:pt x="15557" y="231924"/>
                    <a:pt x="9484" y="225851"/>
                  </a:cubicBezTo>
                  <a:cubicBezTo>
                    <a:pt x="3412" y="219778"/>
                    <a:pt x="0" y="211542"/>
                    <a:pt x="0" y="202954"/>
                  </a:cubicBezTo>
                  <a:lnTo>
                    <a:pt x="0" y="32381"/>
                  </a:lnTo>
                  <a:cubicBezTo>
                    <a:pt x="0" y="23793"/>
                    <a:pt x="3412" y="15557"/>
                    <a:pt x="9484" y="9484"/>
                  </a:cubicBezTo>
                  <a:cubicBezTo>
                    <a:pt x="15557" y="3412"/>
                    <a:pt x="23793" y="0"/>
                    <a:pt x="32381" y="0"/>
                  </a:cubicBezTo>
                  <a:close/>
                </a:path>
              </a:pathLst>
            </a:custGeom>
            <a:solidFill>
              <a:srgbClr val="F3CA52"/>
            </a:solidFill>
            <a:ln w="28575" cap="rnd">
              <a:solidFill>
                <a:srgbClr val="000000"/>
              </a:solidFill>
              <a:prstDash val="solid"/>
              <a:round/>
            </a:ln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1442088" cy="273435"/>
            </a:xfrm>
            <a:prstGeom prst="rect">
              <a:avLst/>
            </a:prstGeom>
          </p:spPr>
          <p:txBody>
            <a:bodyPr anchor="ctr" rtlCol="false" tIns="44426" lIns="44426" bIns="44426" rIns="44426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287963" y="261288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5275306" y="-1336687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4"/>
                </a:lnTo>
                <a:lnTo>
                  <a:pt x="0" y="2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6829903" y="8770540"/>
            <a:ext cx="1591704" cy="1516460"/>
          </a:xfrm>
          <a:custGeom>
            <a:avLst/>
            <a:gdLst/>
            <a:ahLst/>
            <a:cxnLst/>
            <a:rect r="r" b="b" t="t" l="l"/>
            <a:pathLst>
              <a:path h="1516460" w="1591704">
                <a:moveTo>
                  <a:pt x="0" y="0"/>
                </a:moveTo>
                <a:lnTo>
                  <a:pt x="1591704" y="0"/>
                </a:lnTo>
                <a:lnTo>
                  <a:pt x="1591704" y="1516460"/>
                </a:lnTo>
                <a:lnTo>
                  <a:pt x="0" y="151646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344362" y="5852790"/>
            <a:ext cx="2921588" cy="1410033"/>
          </a:xfrm>
          <a:custGeom>
            <a:avLst/>
            <a:gdLst/>
            <a:ahLst/>
            <a:cxnLst/>
            <a:rect r="r" b="b" t="t" l="l"/>
            <a:pathLst>
              <a:path h="1410033" w="2921588">
                <a:moveTo>
                  <a:pt x="0" y="0"/>
                </a:moveTo>
                <a:lnTo>
                  <a:pt x="2921587" y="0"/>
                </a:lnTo>
                <a:lnTo>
                  <a:pt x="2921587" y="1410032"/>
                </a:lnTo>
                <a:lnTo>
                  <a:pt x="0" y="1410032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5792155" y="3020241"/>
            <a:ext cx="4512348" cy="3835496"/>
          </a:xfrm>
          <a:custGeom>
            <a:avLst/>
            <a:gdLst/>
            <a:ahLst/>
            <a:cxnLst/>
            <a:rect r="r" b="b" t="t" l="l"/>
            <a:pathLst>
              <a:path h="3835496" w="4512348">
                <a:moveTo>
                  <a:pt x="0" y="0"/>
                </a:moveTo>
                <a:lnTo>
                  <a:pt x="4512349" y="0"/>
                </a:lnTo>
                <a:lnTo>
                  <a:pt x="4512349" y="3835496"/>
                </a:lnTo>
                <a:lnTo>
                  <a:pt x="0" y="3835496"/>
                </a:lnTo>
                <a:lnTo>
                  <a:pt x="0" y="0"/>
                </a:lnTo>
                <a:close/>
              </a:path>
            </a:pathLst>
          </a:custGeom>
          <a:blipFill>
            <a:blip r:embed="rId11"/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2226065" y="4525040"/>
            <a:ext cx="3876552" cy="2179251"/>
          </a:xfrm>
          <a:custGeom>
            <a:avLst/>
            <a:gdLst/>
            <a:ahLst/>
            <a:cxnLst/>
            <a:rect r="r" b="b" t="t" l="l"/>
            <a:pathLst>
              <a:path h="2179251" w="3876552">
                <a:moveTo>
                  <a:pt x="0" y="0"/>
                </a:moveTo>
                <a:lnTo>
                  <a:pt x="3876551" y="0"/>
                </a:lnTo>
                <a:lnTo>
                  <a:pt x="3876551" y="2179250"/>
                </a:lnTo>
                <a:lnTo>
                  <a:pt x="0" y="2179250"/>
                </a:lnTo>
                <a:lnTo>
                  <a:pt x="0" y="0"/>
                </a:lnTo>
                <a:close/>
              </a:path>
            </a:pathLst>
          </a:custGeom>
          <a:blipFill>
            <a:blip r:embed="rId12"/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1403381" y="268665"/>
            <a:ext cx="5468105" cy="609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500"/>
              </a:lnSpc>
            </a:pPr>
            <a:r>
              <a:rPr lang="en-US" sz="4500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DATA INTEGRITY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341744" y="1232169"/>
            <a:ext cx="4741575" cy="15690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Data Integrity adalah mekanisme dalam database yang memastikan keakuratan dan konsistensi data dengan menerapkan aturan-aturan tertentu agar data tetap valid.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792155" y="1241483"/>
            <a:ext cx="4741575" cy="990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991"/>
              </a:lnSpc>
            </a:pPr>
            <a:r>
              <a:rPr lang="en-US" sz="1659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Domain Integrity</a:t>
            </a:r>
          </a:p>
          <a:p>
            <a:pPr algn="l">
              <a:lnSpc>
                <a:spcPts val="1991"/>
              </a:lnSpc>
            </a:pPr>
            <a:r>
              <a:rPr lang="en-US" sz="1659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Setiap atribut (misalnya, tipe integer, tipe karakter, tipe tanggal/waktu) harus dikaitkan dengan suatu</a:t>
            </a:r>
            <a:r>
              <a:rPr lang="en-US" sz="1659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 domain nilai yang mungkin. 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4362" y="5293232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Entity Integrity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41744" y="3029836"/>
            <a:ext cx="4741575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Tipe Data Integrity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2226065" y="1705791"/>
            <a:ext cx="3999994" cy="2143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757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Referential Integrity</a:t>
            </a:r>
          </a:p>
          <a:p>
            <a:pPr algn="l">
              <a:lnSpc>
                <a:spcPts val="2109"/>
              </a:lnSpc>
            </a:pPr>
            <a:r>
              <a:rPr lang="en-US" sz="1757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Di mana kita ingin memastikan bahwa suatu nilai yang muncul dalam satu relasi untuk sekumpulan atribut tertentu juga muncul dalam sekumpulan atribut tertentu dalam relasi lain (integritas referensial).</a:t>
            </a:r>
          </a:p>
          <a:p>
            <a:pPr algn="l">
              <a:lnSpc>
                <a:spcPts val="2109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344362" y="3582286"/>
            <a:ext cx="3999994" cy="1876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09"/>
              </a:lnSpc>
            </a:pPr>
            <a:r>
              <a:rPr lang="en-US" sz="1757" b="true">
                <a:solidFill>
                  <a:srgbClr val="232323"/>
                </a:solidFill>
                <a:latin typeface="Roboto Bold"/>
                <a:ea typeface="Roboto Bold"/>
                <a:cs typeface="Roboto Bold"/>
                <a:sym typeface="Roboto Bold"/>
              </a:rPr>
              <a:t>Entity Integrity</a:t>
            </a:r>
          </a:p>
          <a:p>
            <a:pPr algn="l">
              <a:lnSpc>
                <a:spcPts val="2109"/>
              </a:lnSpc>
            </a:pPr>
            <a:r>
              <a:rPr lang="en-US" sz="1757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Entity Integrity adalah aturan integritas data dalam basis data relasional yang memastikan setiap baris (tuple) pada suatu tabel dapat diidentifikasi secara unik.</a:t>
            </a:r>
          </a:p>
          <a:p>
            <a:pPr algn="l">
              <a:lnSpc>
                <a:spcPts val="2109"/>
              </a:lnSpc>
            </a:pPr>
          </a:p>
        </p:txBody>
      </p:sp>
      <p:sp>
        <p:nvSpPr>
          <p:cNvPr name="TextBox 22" id="22"/>
          <p:cNvSpPr txBox="true"/>
          <p:nvPr/>
        </p:nvSpPr>
        <p:spPr>
          <a:xfrm rot="0">
            <a:off x="11484484" y="-128968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Domain Integrity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792155" y="2460683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Domain Integrity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2226065" y="3963507"/>
            <a:ext cx="4741575" cy="3214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00"/>
              </a:lnSpc>
            </a:pPr>
            <a:r>
              <a:rPr lang="en-US" sz="2083">
                <a:solidFill>
                  <a:srgbClr val="232323"/>
                </a:solidFill>
                <a:latin typeface="Roboto"/>
                <a:ea typeface="Roboto"/>
                <a:cs typeface="Roboto"/>
                <a:sym typeface="Roboto"/>
              </a:rPr>
              <a:t>Contoh Refrential Integrity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ABC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630154" y="8429079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3"/>
                </a:lnTo>
                <a:lnTo>
                  <a:pt x="0" y="2673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283131">
            <a:off x="2160311" y="-1093527"/>
            <a:ext cx="13975270" cy="9757279"/>
          </a:xfrm>
          <a:custGeom>
            <a:avLst/>
            <a:gdLst/>
            <a:ahLst/>
            <a:cxnLst/>
            <a:rect r="r" b="b" t="t" l="l"/>
            <a:pathLst>
              <a:path h="9757279" w="13975270">
                <a:moveTo>
                  <a:pt x="0" y="0"/>
                </a:moveTo>
                <a:lnTo>
                  <a:pt x="13975269" y="0"/>
                </a:lnTo>
                <a:lnTo>
                  <a:pt x="13975269" y="9757279"/>
                </a:lnTo>
                <a:lnTo>
                  <a:pt x="0" y="975727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3000"/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5945354" y="-929711"/>
            <a:ext cx="3214947" cy="3062968"/>
          </a:xfrm>
          <a:custGeom>
            <a:avLst/>
            <a:gdLst/>
            <a:ahLst/>
            <a:cxnLst/>
            <a:rect r="r" b="b" t="t" l="l"/>
            <a:pathLst>
              <a:path h="3062968" w="3214947">
                <a:moveTo>
                  <a:pt x="0" y="0"/>
                </a:moveTo>
                <a:lnTo>
                  <a:pt x="3214947" y="0"/>
                </a:lnTo>
                <a:lnTo>
                  <a:pt x="3214947" y="3062968"/>
                </a:lnTo>
                <a:lnTo>
                  <a:pt x="0" y="306296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490831" y="9765765"/>
            <a:ext cx="19058739" cy="702472"/>
            <a:chOff x="0" y="0"/>
            <a:chExt cx="5019585" cy="18501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019585" cy="185013"/>
            </a:xfrm>
            <a:custGeom>
              <a:avLst/>
              <a:gdLst/>
              <a:ahLst/>
              <a:cxnLst/>
              <a:rect r="r" b="b" t="t" l="l"/>
              <a:pathLst>
                <a:path h="185013" w="5019585">
                  <a:moveTo>
                    <a:pt x="0" y="0"/>
                  </a:moveTo>
                  <a:lnTo>
                    <a:pt x="5019585" y="0"/>
                  </a:lnTo>
                  <a:lnTo>
                    <a:pt x="5019585" y="185013"/>
                  </a:lnTo>
                  <a:lnTo>
                    <a:pt x="0" y="185013"/>
                  </a:lnTo>
                  <a:close/>
                </a:path>
              </a:pathLst>
            </a:custGeom>
            <a:solidFill>
              <a:srgbClr val="19191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5019585" cy="22311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1750284"/>
            <a:ext cx="9075079" cy="43603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6656"/>
              </a:lnSpc>
            </a:pPr>
            <a:r>
              <a:rPr lang="en-US" sz="16656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Terima</a:t>
            </a:r>
          </a:p>
          <a:p>
            <a:pPr algn="ctr">
              <a:lnSpc>
                <a:spcPts val="16656"/>
              </a:lnSpc>
            </a:pPr>
            <a:r>
              <a:rPr lang="en-US" sz="16656">
                <a:solidFill>
                  <a:srgbClr val="191919"/>
                </a:solidFill>
                <a:latin typeface="Bobby Jones"/>
                <a:ea typeface="Bobby Jones"/>
                <a:cs typeface="Bobby Jones"/>
                <a:sym typeface="Bobby Jones"/>
              </a:rPr>
              <a:t>kasih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848539" y="5620459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170080">
            <a:off x="8653797" y="904896"/>
            <a:ext cx="980406" cy="980406"/>
          </a:xfrm>
          <a:custGeom>
            <a:avLst/>
            <a:gdLst/>
            <a:ahLst/>
            <a:cxnLst/>
            <a:rect r="r" b="b" t="t" l="l"/>
            <a:pathLst>
              <a:path h="980406" w="980406">
                <a:moveTo>
                  <a:pt x="0" y="0"/>
                </a:moveTo>
                <a:lnTo>
                  <a:pt x="980406" y="0"/>
                </a:lnTo>
                <a:lnTo>
                  <a:pt x="980406" y="980406"/>
                </a:lnTo>
                <a:lnTo>
                  <a:pt x="0" y="9804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-5219196" y="-929711"/>
            <a:ext cx="7315200" cy="2673373"/>
          </a:xfrm>
          <a:custGeom>
            <a:avLst/>
            <a:gdLst/>
            <a:ahLst/>
            <a:cxnLst/>
            <a:rect r="r" b="b" t="t" l="l"/>
            <a:pathLst>
              <a:path h="2673373" w="7315200">
                <a:moveTo>
                  <a:pt x="0" y="0"/>
                </a:moveTo>
                <a:lnTo>
                  <a:pt x="7315200" y="0"/>
                </a:lnTo>
                <a:lnTo>
                  <a:pt x="7315200" y="2673374"/>
                </a:lnTo>
                <a:lnTo>
                  <a:pt x="0" y="2673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0103779" y="2541087"/>
            <a:ext cx="9771526" cy="7927150"/>
          </a:xfrm>
          <a:custGeom>
            <a:avLst/>
            <a:gdLst/>
            <a:ahLst/>
            <a:cxnLst/>
            <a:rect r="r" b="b" t="t" l="l"/>
            <a:pathLst>
              <a:path h="7927150" w="9771526">
                <a:moveTo>
                  <a:pt x="0" y="0"/>
                </a:moveTo>
                <a:lnTo>
                  <a:pt x="9771526" y="0"/>
                </a:lnTo>
                <a:lnTo>
                  <a:pt x="9771526" y="7927151"/>
                </a:lnTo>
                <a:lnTo>
                  <a:pt x="0" y="792715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-767388">
            <a:off x="906156" y="7154083"/>
            <a:ext cx="1366305" cy="2058464"/>
          </a:xfrm>
          <a:custGeom>
            <a:avLst/>
            <a:gdLst/>
            <a:ahLst/>
            <a:cxnLst/>
            <a:rect r="r" b="b" t="t" l="l"/>
            <a:pathLst>
              <a:path h="2058464" w="1366305">
                <a:moveTo>
                  <a:pt x="0" y="0"/>
                </a:moveTo>
                <a:lnTo>
                  <a:pt x="1366305" y="0"/>
                </a:lnTo>
                <a:lnTo>
                  <a:pt x="1366305" y="2058464"/>
                </a:lnTo>
                <a:lnTo>
                  <a:pt x="0" y="2058464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DAG8NHdokhs</dc:identifier>
  <dcterms:modified xsi:type="dcterms:W3CDTF">2011-08-01T06:04:30Z</dcterms:modified>
  <cp:revision>1</cp:revision>
  <dc:title>Statistika Presentasi dalam Ungu Ilustratif Modern</dc:title>
</cp:coreProperties>
</file>