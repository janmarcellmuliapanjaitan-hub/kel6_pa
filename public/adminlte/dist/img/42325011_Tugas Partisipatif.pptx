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04" r:id="rId6"/>
    <p:sldId id="307" r:id="rId7"/>
    <p:sldId id="281" r:id="rId8"/>
    <p:sldId id="282" r:id="rId9"/>
    <p:sldId id="314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7937" y="1435869"/>
            <a:ext cx="7736126" cy="2423861"/>
          </a:xfrm>
        </p:spPr>
        <p:txBody>
          <a:bodyPr anchor="ctr"/>
          <a:lstStyle/>
          <a:p>
            <a:r>
              <a:rPr lang="en-US" dirty="0" err="1"/>
              <a:t>Pengenalan</a:t>
            </a:r>
            <a:r>
              <a:rPr lang="en-US" dirty="0"/>
              <a:t> basis data </a:t>
            </a:r>
            <a:br>
              <a:rPr lang="en-US" dirty="0"/>
            </a:br>
            <a:r>
              <a:rPr lang="en-US" dirty="0"/>
              <a:t> : </a:t>
            </a:r>
            <a:r>
              <a:rPr lang="en-US" dirty="0" err="1"/>
              <a:t>dml</a:t>
            </a:r>
            <a:r>
              <a:rPr lang="en-US" dirty="0"/>
              <a:t> &amp; Data integrity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AFC79A-81E8-93C5-C2A3-3A3ADA85C782}"/>
              </a:ext>
            </a:extLst>
          </p:cNvPr>
          <p:cNvSpPr/>
          <p:nvPr/>
        </p:nvSpPr>
        <p:spPr>
          <a:xfrm>
            <a:off x="3822700" y="3556000"/>
            <a:ext cx="4533900" cy="95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By : Vinci Lita Margaret </a:t>
            </a:r>
            <a:r>
              <a:rPr lang="en-US" b="1" dirty="0" err="1">
                <a:solidFill>
                  <a:schemeClr val="accent1">
                    <a:lumMod val="25000"/>
                  </a:schemeClr>
                </a:solidFill>
              </a:rPr>
              <a:t>Silalahi</a:t>
            </a:r>
            <a:endParaRPr lang="en-US" b="1" dirty="0">
              <a:solidFill>
                <a:schemeClr val="accent1">
                  <a:lumMod val="2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42325011</a:t>
            </a:r>
            <a:endParaRPr lang="en-ID" b="1" dirty="0">
              <a:solidFill>
                <a:schemeClr val="accent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" y="-602669"/>
            <a:ext cx="8758989" cy="187320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manipulation </a:t>
            </a:r>
            <a:r>
              <a:rPr lang="en-US" dirty="0" err="1">
                <a:solidFill>
                  <a:srgbClr val="FF0000"/>
                </a:solidFill>
              </a:rPr>
              <a:t>languae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863860-F4C4-A82F-D3F4-C07905590960}"/>
              </a:ext>
            </a:extLst>
          </p:cNvPr>
          <p:cNvSpPr/>
          <p:nvPr/>
        </p:nvSpPr>
        <p:spPr>
          <a:xfrm>
            <a:off x="240633" y="1424540"/>
            <a:ext cx="8479856" cy="962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Data Manipulation Language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merupakan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sekumpulan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perintah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dipergunakan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dalam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pengelolaan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database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seperti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menampilkan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menghapus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menambah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membuat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baru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6B5B19-5EB5-3413-3B74-72DA88ACA9B2}"/>
              </a:ext>
            </a:extLst>
          </p:cNvPr>
          <p:cNvSpPr/>
          <p:nvPr/>
        </p:nvSpPr>
        <p:spPr>
          <a:xfrm>
            <a:off x="2473691" y="2738387"/>
            <a:ext cx="2868329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 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perintah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utamanya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 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4ED5DE-8EA7-3ECC-BDFB-95191DAF9F40}"/>
              </a:ext>
            </a:extLst>
          </p:cNvPr>
          <p:cNvSpPr/>
          <p:nvPr/>
        </p:nvSpPr>
        <p:spPr>
          <a:xfrm>
            <a:off x="1253686" y="3830854"/>
            <a:ext cx="1482291" cy="14437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SELECT</a:t>
            </a:r>
            <a:endParaRPr lang="en-ID" b="1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0563E4-9D41-1A89-D579-6CC086B729AC}"/>
              </a:ext>
            </a:extLst>
          </p:cNvPr>
          <p:cNvSpPr/>
          <p:nvPr/>
        </p:nvSpPr>
        <p:spPr>
          <a:xfrm>
            <a:off x="2844263" y="3753853"/>
            <a:ext cx="1677204" cy="14437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UPDATE</a:t>
            </a:r>
            <a:endParaRPr lang="en-ID" b="1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42481C-A27A-B2DA-2D8C-51DBA302A942}"/>
              </a:ext>
            </a:extLst>
          </p:cNvPr>
          <p:cNvSpPr/>
          <p:nvPr/>
        </p:nvSpPr>
        <p:spPr>
          <a:xfrm>
            <a:off x="4667050" y="3792354"/>
            <a:ext cx="1568918" cy="14437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DELETE</a:t>
            </a:r>
            <a:endParaRPr lang="en-ID" b="1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4D684A-148C-1E7B-F13E-23612DAF28A4}"/>
              </a:ext>
            </a:extLst>
          </p:cNvPr>
          <p:cNvSpPr/>
          <p:nvPr/>
        </p:nvSpPr>
        <p:spPr>
          <a:xfrm>
            <a:off x="6381551" y="3753853"/>
            <a:ext cx="1482291" cy="15207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INSERT</a:t>
            </a:r>
            <a:endParaRPr lang="en-ID" b="1" dirty="0">
              <a:solidFill>
                <a:schemeClr val="accent1">
                  <a:lumMod val="25000"/>
                </a:schemeClr>
              </a:solidFill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EB7684A-D53C-E046-1EC9-4D3E75D8D50D}"/>
              </a:ext>
            </a:extLst>
          </p:cNvPr>
          <p:cNvCxnSpPr>
            <a:stCxn id="8" idx="3"/>
            <a:endCxn id="12" idx="0"/>
          </p:cNvCxnSpPr>
          <p:nvPr/>
        </p:nvCxnSpPr>
        <p:spPr>
          <a:xfrm>
            <a:off x="5342020" y="2921267"/>
            <a:ext cx="1780677" cy="83258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E121768-A8F2-22AF-7A1F-3D4ADB98A6F7}"/>
              </a:ext>
            </a:extLst>
          </p:cNvPr>
          <p:cNvCxnSpPr>
            <a:endCxn id="11" idx="0"/>
          </p:cNvCxnSpPr>
          <p:nvPr/>
        </p:nvCxnSpPr>
        <p:spPr>
          <a:xfrm>
            <a:off x="4667050" y="3104147"/>
            <a:ext cx="784459" cy="688207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23FF704-B6B7-4B45-4B59-842EB7DDCE92}"/>
              </a:ext>
            </a:extLst>
          </p:cNvPr>
          <p:cNvCxnSpPr>
            <a:endCxn id="10" idx="0"/>
          </p:cNvCxnSpPr>
          <p:nvPr/>
        </p:nvCxnSpPr>
        <p:spPr>
          <a:xfrm rot="16200000" flipH="1">
            <a:off x="3191375" y="3262363"/>
            <a:ext cx="649706" cy="33327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EA00D4F-B112-FD7A-DDA5-8482ACE8EC57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>
            <a:off x="1938287" y="3160691"/>
            <a:ext cx="726709" cy="61361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840" y="1197847"/>
            <a:ext cx="5270359" cy="719051"/>
          </a:xfrm>
        </p:spPr>
        <p:txBody>
          <a:bodyPr/>
          <a:lstStyle/>
          <a:p>
            <a:r>
              <a:rPr lang="en-US" dirty="0"/>
              <a:t>Database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9D34A67-43E9-9706-7628-9031C0F4BC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310E4C-8BD4-1D12-30CC-E39C15B4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396" y="0"/>
            <a:ext cx="5098376" cy="644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384800" cy="581025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dml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3ED998-4BC6-3392-D0E7-A3014AA4D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35" y="4440109"/>
            <a:ext cx="4016828" cy="685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42EB3F-04FA-6B60-1647-F94BB2984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663" y="2039809"/>
            <a:ext cx="6973273" cy="18385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9C157FF-52F8-8685-317E-F45668798D26}"/>
              </a:ext>
            </a:extLst>
          </p:cNvPr>
          <p:cNvSpPr/>
          <p:nvPr/>
        </p:nvSpPr>
        <p:spPr>
          <a:xfrm>
            <a:off x="546100" y="1638300"/>
            <a:ext cx="3701563" cy="240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Perintah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INSERT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ke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tabel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Mahasiswa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digunakan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untuk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menambahkan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mahasiswa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baru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ke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dalam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database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dengan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menentukan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kolom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nilai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sesuai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dengan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struktur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tabel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E95839-2DEF-29E3-F407-A95A99F9D4A9}"/>
              </a:ext>
            </a:extLst>
          </p:cNvPr>
          <p:cNvSpPr/>
          <p:nvPr/>
        </p:nvSpPr>
        <p:spPr>
          <a:xfrm>
            <a:off x="5369865" y="4116259"/>
            <a:ext cx="6223000" cy="2019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Perintah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ini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digunakan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untuk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menampilkan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seluruh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mahasiswa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tersimpan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di </a:t>
            </a:r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tabel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1">
                    <a:lumMod val="25000"/>
                  </a:schemeClr>
                </a:solidFill>
              </a:rPr>
              <a:t>Mahasiswa</a:t>
            </a:r>
            <a:r>
              <a:rPr lang="en-ID" dirty="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14CA64-5276-817C-4358-7873549D8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35" y="5198677"/>
            <a:ext cx="5299395" cy="14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865" y="124613"/>
            <a:ext cx="7965461" cy="994164"/>
          </a:xfrm>
        </p:spPr>
        <p:txBody>
          <a:bodyPr/>
          <a:lstStyle/>
          <a:p>
            <a:r>
              <a:rPr lang="en-US" dirty="0"/>
              <a:t>DATA INEGRITY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18D88-8E4F-C278-C026-1BCDFE313870}"/>
              </a:ext>
            </a:extLst>
          </p:cNvPr>
          <p:cNvSpPr/>
          <p:nvPr/>
        </p:nvSpPr>
        <p:spPr>
          <a:xfrm>
            <a:off x="2685865" y="1257300"/>
            <a:ext cx="8896535" cy="994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i="1" dirty="0">
                <a:solidFill>
                  <a:schemeClr val="accent1">
                    <a:lumMod val="25000"/>
                  </a:schemeClr>
                </a:solidFill>
              </a:rPr>
              <a:t>Data integrity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 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merupakan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suatu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proses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digunakan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dalam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sebuah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sistem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digital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untuk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memastikan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tetap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akurat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konsisten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lengkap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selama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siklus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hidupnya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57D2A-C45F-60A3-D073-A3E80B05A015}"/>
              </a:ext>
            </a:extLst>
          </p:cNvPr>
          <p:cNvSpPr/>
          <p:nvPr/>
        </p:nvSpPr>
        <p:spPr>
          <a:xfrm>
            <a:off x="2857500" y="2514600"/>
            <a:ext cx="8896535" cy="4089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komponen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yaitu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</a:p>
          <a:p>
            <a:pPr algn="ctr"/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entity integrity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menjamin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setiap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memiliki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identitas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unik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melalui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i="1" dirty="0">
                <a:solidFill>
                  <a:schemeClr val="accent1">
                    <a:lumMod val="25000"/>
                  </a:schemeClr>
                </a:solidFill>
              </a:rPr>
              <a:t>primary key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tidak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boleh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bernilai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i="1" dirty="0">
                <a:solidFill>
                  <a:schemeClr val="accent1">
                    <a:lumMod val="25000"/>
                  </a:schemeClr>
                </a:solidFill>
              </a:rPr>
              <a:t>NULL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;</a:t>
            </a:r>
          </a:p>
          <a:p>
            <a:pPr algn="ctr"/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referential integrity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menjaga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konsistensi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hubungan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antar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tabel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menggunakan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i="1" dirty="0">
                <a:solidFill>
                  <a:schemeClr val="accent1">
                    <a:lumMod val="25000"/>
                  </a:schemeClr>
                </a:solidFill>
              </a:rPr>
              <a:t>foreign key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sehingga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di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tabel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anak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harus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ada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di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tabel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induk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;</a:t>
            </a:r>
          </a:p>
          <a:p>
            <a:pPr algn="ctr"/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domain integrity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memastikan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sesuai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dengan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tipe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format,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batasan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ditentukan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seperti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tipe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data, </a:t>
            </a:r>
            <a:r>
              <a:rPr lang="en-ID" b="1" i="1" dirty="0">
                <a:solidFill>
                  <a:schemeClr val="accent1">
                    <a:lumMod val="25000"/>
                  </a:schemeClr>
                </a:solidFill>
              </a:rPr>
              <a:t>NOT NULL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dan </a:t>
            </a:r>
            <a:r>
              <a:rPr lang="en-ID" b="1" i="1" dirty="0">
                <a:solidFill>
                  <a:schemeClr val="accent1">
                    <a:lumMod val="25000"/>
                  </a:schemeClr>
                </a:solidFill>
              </a:rPr>
              <a:t>CHECK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; </a:t>
            </a:r>
          </a:p>
          <a:p>
            <a:pPr algn="ctr"/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user-defined integrity yang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merupakan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aturan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tambahan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sesuai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kebutuhan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pengguna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atau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sistem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,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misalnya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pembatasan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nilai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atau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tahun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angkatan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609" y="263524"/>
            <a:ext cx="6773091" cy="708026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data </a:t>
            </a:r>
            <a:r>
              <a:rPr lang="en-US" dirty="0" err="1"/>
              <a:t>inegrity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1BBC2-0AF1-E59A-9DBD-2CB75A758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608" y="1397000"/>
            <a:ext cx="4450447" cy="7080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FE142C-0826-D6E9-D284-DD4C971594AA}"/>
              </a:ext>
            </a:extLst>
          </p:cNvPr>
          <p:cNvSpPr/>
          <p:nvPr/>
        </p:nvSpPr>
        <p:spPr>
          <a:xfrm>
            <a:off x="7531100" y="1066800"/>
            <a:ext cx="4229100" cy="103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Menjamin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setiap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unik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dapat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dibedakan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3F4366-7BD6-0C22-BB0D-9724884B8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409" y="2846920"/>
            <a:ext cx="4405533" cy="515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27DC85-B64B-2904-151B-7989DEA301D4}"/>
              </a:ext>
            </a:extLst>
          </p:cNvPr>
          <p:cNvSpPr/>
          <p:nvPr/>
        </p:nvSpPr>
        <p:spPr>
          <a:xfrm>
            <a:off x="7531100" y="2514600"/>
            <a:ext cx="4405533" cy="103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b="1" dirty="0">
                <a:solidFill>
                  <a:schemeClr val="accent1">
                    <a:lumMod val="25000"/>
                  </a:schemeClr>
                </a:solidFill>
              </a:rPr>
              <a:t>Menjaga konsistensi hubungan antar tabel.</a:t>
            </a:r>
            <a:endParaRPr lang="en-ID" b="1" dirty="0">
              <a:solidFill>
                <a:schemeClr val="accent1">
                  <a:lumMod val="2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BE16DE-3424-D47E-DB36-C030B3CC9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609" y="4524294"/>
            <a:ext cx="3562847" cy="116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CCDC31C-AB49-CDA0-BBC0-94E80CF1D37B}"/>
              </a:ext>
            </a:extLst>
          </p:cNvPr>
          <p:cNvSpPr/>
          <p:nvPr/>
        </p:nvSpPr>
        <p:spPr>
          <a:xfrm>
            <a:off x="7226300" y="4254500"/>
            <a:ext cx="4710333" cy="983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Menjamin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sesuai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tipe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dan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aturan</a:t>
            </a:r>
            <a:r>
              <a:rPr lang="en-ID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1">
                    <a:lumMod val="25000"/>
                  </a:schemeClr>
                </a:solidFill>
              </a:rPr>
              <a:t>kolom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{2322055B-1634-4F34-AB44-0EEDC58C9457}TF8a9b5915-b8c7-461e-8cdd-693d48b5e32371f7b7e2_win32-4bf0b9a2ea37</Template>
  <TotalTime>48</TotalTime>
  <Words>234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Custom</vt:lpstr>
      <vt:lpstr>Pengenalan basis data   : dml &amp; Data integrity </vt:lpstr>
      <vt:lpstr>data manipulation languae</vt:lpstr>
      <vt:lpstr>Database </vt:lpstr>
      <vt:lpstr>Contoh dml</vt:lpstr>
      <vt:lpstr>DATA INEGRITY</vt:lpstr>
      <vt:lpstr>Contoh data inegrity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vincilitamargaretsilalahi@gmail.com</dc:creator>
  <cp:lastModifiedBy>vincilitamargaretsilalahi@gmail.com</cp:lastModifiedBy>
  <cp:revision>3</cp:revision>
  <dcterms:created xsi:type="dcterms:W3CDTF">2025-12-22T03:00:49Z</dcterms:created>
  <dcterms:modified xsi:type="dcterms:W3CDTF">2025-12-22T03:52:17Z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